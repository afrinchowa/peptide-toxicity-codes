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68" r:id="rId4"/>
    <p:sldId id="371" r:id="rId5"/>
    <p:sldId id="335" r:id="rId6"/>
    <p:sldId id="372" r:id="rId7"/>
    <p:sldId id="373" r:id="rId8"/>
    <p:sldId id="378" r:id="rId9"/>
    <p:sldId id="336" r:id="rId10"/>
    <p:sldId id="379" r:id="rId11"/>
    <p:sldId id="322" r:id="rId12"/>
    <p:sldId id="3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77" autoAdjust="0"/>
    <p:restoredTop sz="99819" autoAdjust="0"/>
  </p:normalViewPr>
  <p:slideViewPr>
    <p:cSldViewPr snapToGrid="0">
      <p:cViewPr varScale="1">
        <p:scale>
          <a:sx n="115" d="100"/>
          <a:sy n="115" d="100"/>
        </p:scale>
        <p:origin x="55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E9B7D0-61A9-4791-85DC-5D660DDD48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716829-4C6A-4C74-9990-60DEEC4117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and Problem Statement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DD2791-12E4-4D6B-B01B-CF757B1325B4}" type="parTrans" cxnId="{5CCB30FD-D0B4-4344-8CF2-D4BB7F6D428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C5F259-5362-4348-A993-19D2E91765E9}" type="sibTrans" cxnId="{5CCB30FD-D0B4-4344-8CF2-D4BB7F6D428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7069CC-F4A6-4DCC-8661-B4BDB16812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0FDF70-FCC5-4F5F-9ACC-7A0E67365622}" type="parTrans" cxnId="{A8E75DB3-3AD4-42A4-A30F-05FEAFF4AF8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F09E3F-6EAE-4739-ADA9-F873459B8726}" type="sibTrans" cxnId="{A8E75DB3-3AD4-42A4-A30F-05FEAFF4AF8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91EBB4-EDEF-4697-B28F-0D03F6CAF17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4BBFC-C033-451D-BCA9-B0A9A12186E5}" type="parTrans" cxnId="{A2DE022F-9DBE-4B98-99D9-55F41A02EED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3FB6E4-CFDE-418A-968E-EDDAAE12890C}" type="sibTrans" cxnId="{A2DE022F-9DBE-4B98-99D9-55F41A02EED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CCA287-E815-4A04-BC24-93444568B5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and Contribution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0EFD13-4C98-4CA7-8489-D1414A7D5D82}" type="sibTrans" cxnId="{9C80E958-3ACD-4843-8B10-0B30455ECB65}">
      <dgm:prSet/>
      <dgm:spPr/>
      <dgm:t>
        <a:bodyPr/>
        <a:lstStyle/>
        <a:p>
          <a:endParaRPr lang="en-US"/>
        </a:p>
      </dgm:t>
    </dgm:pt>
    <dgm:pt modelId="{ED0961A8-25B2-413D-8A93-C3B24CFF4D1D}" type="parTrans" cxnId="{9C80E958-3ACD-4843-8B10-0B30455ECB65}">
      <dgm:prSet/>
      <dgm:spPr/>
      <dgm:t>
        <a:bodyPr/>
        <a:lstStyle/>
        <a:p>
          <a:endParaRPr lang="en-US"/>
        </a:p>
      </dgm:t>
    </dgm:pt>
    <dgm:pt modelId="{08D6B79C-57A7-4FBC-8A85-53AA6A98CF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Scope and Literature Review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954351-10D5-492B-89F1-D5E0494DE2DE}" type="parTrans" cxnId="{5E3E3A60-5F9E-41B8-BF7A-DD89A2E3464E}">
      <dgm:prSet/>
      <dgm:spPr/>
      <dgm:t>
        <a:bodyPr/>
        <a:lstStyle/>
        <a:p>
          <a:endParaRPr lang="en-US"/>
        </a:p>
      </dgm:t>
    </dgm:pt>
    <dgm:pt modelId="{973F352B-AB5E-420D-94F7-A784239916A7}" type="sibTrans" cxnId="{5E3E3A60-5F9E-41B8-BF7A-DD89A2E3464E}">
      <dgm:prSet/>
      <dgm:spPr/>
      <dgm:t>
        <a:bodyPr/>
        <a:lstStyle/>
        <a:p>
          <a:endParaRPr lang="en-US"/>
        </a:p>
      </dgm:t>
    </dgm:pt>
    <dgm:pt modelId="{2664399A-E047-47AB-94B9-AC0DFE11FD2C}" type="pres">
      <dgm:prSet presAssocID="{4EE9B7D0-61A9-4791-85DC-5D660DDD48F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6A55EF3-1EA2-4A18-85C7-DBA137CF47BE}" type="pres">
      <dgm:prSet presAssocID="{C2716829-4C6A-4C74-9990-60DEEC411796}" presName="compNode" presStyleCnt="0"/>
      <dgm:spPr/>
    </dgm:pt>
    <dgm:pt modelId="{4CFDA47A-77F5-46CF-B9D4-07E520CFD662}" type="pres">
      <dgm:prSet presAssocID="{C2716829-4C6A-4C74-9990-60DEEC411796}" presName="bgRect" presStyleLbl="bgShp" presStyleIdx="0" presStyleCnt="5"/>
      <dgm:spPr/>
    </dgm:pt>
    <dgm:pt modelId="{4E15DB1C-410B-4A6A-9201-C4EE1C3A6D7C}" type="pres">
      <dgm:prSet presAssocID="{C2716829-4C6A-4C74-9990-60DEEC41179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8B2C01A-C887-44D3-9A29-DBD876896992}" type="pres">
      <dgm:prSet presAssocID="{C2716829-4C6A-4C74-9990-60DEEC411796}" presName="spaceRect" presStyleCnt="0"/>
      <dgm:spPr/>
    </dgm:pt>
    <dgm:pt modelId="{942ACE10-6522-40B4-99D0-BCF38F1681CF}" type="pres">
      <dgm:prSet presAssocID="{C2716829-4C6A-4C74-9990-60DEEC411796}" presName="parTx" presStyleLbl="revTx" presStyleIdx="0" presStyleCnt="5" custLinFactNeighborX="-2011" custLinFactNeighborY="-10909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B0079D2-E1C0-4AA2-BD88-7705C8387F4A}" type="pres">
      <dgm:prSet presAssocID="{F7C5F259-5362-4348-A993-19D2E91765E9}" presName="sibTrans" presStyleCnt="0"/>
      <dgm:spPr/>
    </dgm:pt>
    <dgm:pt modelId="{B59CC7F0-2685-4048-A1E3-42878E9E0FB2}" type="pres">
      <dgm:prSet presAssocID="{A8CCA287-E815-4A04-BC24-93444568B5B3}" presName="compNode" presStyleCnt="0"/>
      <dgm:spPr/>
    </dgm:pt>
    <dgm:pt modelId="{42F1B256-5D76-4A65-8248-131B7074FF25}" type="pres">
      <dgm:prSet presAssocID="{A8CCA287-E815-4A04-BC24-93444568B5B3}" presName="bgRect" presStyleLbl="bgShp" presStyleIdx="1" presStyleCnt="5"/>
      <dgm:spPr/>
    </dgm:pt>
    <dgm:pt modelId="{104F3AA8-DFEE-4CB2-AA8B-9124D87B76D4}" type="pres">
      <dgm:prSet presAssocID="{A8CCA287-E815-4A04-BC24-93444568B5B3}" presName="iconRect" presStyleLbl="node1" presStyleIdx="1" presStyleCnt="5"/>
      <dgm:spPr/>
    </dgm:pt>
    <dgm:pt modelId="{12ABBD4B-5C0B-4877-81CE-000CEB4EF1B0}" type="pres">
      <dgm:prSet presAssocID="{A8CCA287-E815-4A04-BC24-93444568B5B3}" presName="spaceRect" presStyleCnt="0"/>
      <dgm:spPr/>
    </dgm:pt>
    <dgm:pt modelId="{2EFAAB62-F905-412E-A430-0E4D48B05568}" type="pres">
      <dgm:prSet presAssocID="{A8CCA287-E815-4A04-BC24-93444568B5B3}" presName="parTx" presStyleLbl="revTx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E4F0AC5-A9D3-4018-995F-E70EF07A88D9}" type="pres">
      <dgm:prSet presAssocID="{E40EFD13-4C98-4CA7-8489-D1414A7D5D82}" presName="sibTrans" presStyleCnt="0"/>
      <dgm:spPr/>
    </dgm:pt>
    <dgm:pt modelId="{0E779A0E-34E3-4871-A9DA-72B59CDC2DBE}" type="pres">
      <dgm:prSet presAssocID="{08D6B79C-57A7-4FBC-8A85-53AA6A98CF94}" presName="compNode" presStyleCnt="0"/>
      <dgm:spPr/>
    </dgm:pt>
    <dgm:pt modelId="{4A11740B-F228-4A98-B2F9-81A5F52D7741}" type="pres">
      <dgm:prSet presAssocID="{08D6B79C-57A7-4FBC-8A85-53AA6A98CF94}" presName="bgRect" presStyleLbl="bgShp" presStyleIdx="2" presStyleCnt="5"/>
      <dgm:spPr/>
    </dgm:pt>
    <dgm:pt modelId="{45F21A17-721B-4E44-B854-3C408EDD1BCA}" type="pres">
      <dgm:prSet presAssocID="{08D6B79C-57A7-4FBC-8A85-53AA6A98CF94}" presName="iconRect" presStyleLbl="node1" presStyleIdx="2" presStyleCnt="5"/>
      <dgm:spPr/>
    </dgm:pt>
    <dgm:pt modelId="{7AEDCE75-B8BF-4EE9-9DA2-2E30DD210F15}" type="pres">
      <dgm:prSet presAssocID="{08D6B79C-57A7-4FBC-8A85-53AA6A98CF94}" presName="spaceRect" presStyleCnt="0"/>
      <dgm:spPr/>
    </dgm:pt>
    <dgm:pt modelId="{D54EB964-16E1-411E-9C8A-27010A5F2516}" type="pres">
      <dgm:prSet presAssocID="{08D6B79C-57A7-4FBC-8A85-53AA6A98CF94}" presName="parTx" presStyleLbl="revTx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16E2FC1-0F66-4E8E-9CD0-085722EE7F63}" type="pres">
      <dgm:prSet presAssocID="{973F352B-AB5E-420D-94F7-A784239916A7}" presName="sibTrans" presStyleCnt="0"/>
      <dgm:spPr/>
    </dgm:pt>
    <dgm:pt modelId="{E40BCFA9-5480-4BB5-BCB6-A273699204AA}" type="pres">
      <dgm:prSet presAssocID="{3B7069CC-F4A6-4DCC-8661-B4BDB1681290}" presName="compNode" presStyleCnt="0"/>
      <dgm:spPr/>
    </dgm:pt>
    <dgm:pt modelId="{31DFDACF-02A0-425B-837C-19058BB4569B}" type="pres">
      <dgm:prSet presAssocID="{3B7069CC-F4A6-4DCC-8661-B4BDB1681290}" presName="bgRect" presStyleLbl="bgShp" presStyleIdx="3" presStyleCnt="5"/>
      <dgm:spPr/>
    </dgm:pt>
    <dgm:pt modelId="{A9652CA4-856E-4939-A320-9315823D4AFD}" type="pres">
      <dgm:prSet presAssocID="{3B7069CC-F4A6-4DCC-8661-B4BDB1681290}" presName="iconRect" presStyleLbl="node1" presStyleIdx="3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F1CF666-C8B1-4CF1-B85A-DE0515BF93B9}" type="pres">
      <dgm:prSet presAssocID="{3B7069CC-F4A6-4DCC-8661-B4BDB1681290}" presName="spaceRect" presStyleCnt="0"/>
      <dgm:spPr/>
    </dgm:pt>
    <dgm:pt modelId="{A151F55C-FD50-404E-B478-D6181D175AE7}" type="pres">
      <dgm:prSet presAssocID="{3B7069CC-F4A6-4DCC-8661-B4BDB1681290}" presName="parTx" presStyleLbl="revTx" presStyleIdx="3" presStyleCnt="5" custLinFactNeighborX="434" custLinFactNeighborY="-1366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5BA6ACA-7214-489C-90F7-26973756E247}" type="pres">
      <dgm:prSet presAssocID="{72F09E3F-6EAE-4739-ADA9-F873459B8726}" presName="sibTrans" presStyleCnt="0"/>
      <dgm:spPr/>
    </dgm:pt>
    <dgm:pt modelId="{CFAF7D4D-C104-42FC-A8C6-F287CAF68434}" type="pres">
      <dgm:prSet presAssocID="{6791EBB4-EDEF-4697-B28F-0D03F6CAF177}" presName="compNode" presStyleCnt="0"/>
      <dgm:spPr/>
    </dgm:pt>
    <dgm:pt modelId="{CB421E6C-8CAA-47F4-A00E-C1A16F90BB72}" type="pres">
      <dgm:prSet presAssocID="{6791EBB4-EDEF-4697-B28F-0D03F6CAF177}" presName="bgRect" presStyleLbl="bgShp" presStyleIdx="4" presStyleCnt="5"/>
      <dgm:spPr/>
    </dgm:pt>
    <dgm:pt modelId="{3CC34473-C7C3-46A1-8DA6-28CE6904478C}" type="pres">
      <dgm:prSet presAssocID="{6791EBB4-EDEF-4697-B28F-0D03F6CAF177}" presName="iconRect" presStyleLbl="node1" presStyleIdx="4" presStyleCnt="5"/>
      <dgm:spPr/>
    </dgm:pt>
    <dgm:pt modelId="{E1F50C92-95E1-4827-8574-D4EABAEB8CA7}" type="pres">
      <dgm:prSet presAssocID="{6791EBB4-EDEF-4697-B28F-0D03F6CAF177}" presName="spaceRect" presStyleCnt="0"/>
      <dgm:spPr/>
    </dgm:pt>
    <dgm:pt modelId="{37BCC982-C0DC-473C-AF78-1788940452AF}" type="pres">
      <dgm:prSet presAssocID="{6791EBB4-EDEF-4697-B28F-0D03F6CAF177}" presName="parTx" presStyleLbl="revTx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73E8817A-B87F-429A-B520-3444EBFFB478}" type="presOf" srcId="{4EE9B7D0-61A9-4791-85DC-5D660DDD48F1}" destId="{2664399A-E047-47AB-94B9-AC0DFE11FD2C}" srcOrd="0" destOrd="0" presId="urn:microsoft.com/office/officeart/2018/2/layout/IconVerticalSolidList"/>
    <dgm:cxn modelId="{A8E75DB3-3AD4-42A4-A30F-05FEAFF4AF85}" srcId="{4EE9B7D0-61A9-4791-85DC-5D660DDD48F1}" destId="{3B7069CC-F4A6-4DCC-8661-B4BDB1681290}" srcOrd="3" destOrd="0" parTransId="{AB0FDF70-FCC5-4F5F-9ACC-7A0E67365622}" sibTransId="{72F09E3F-6EAE-4739-ADA9-F873459B8726}"/>
    <dgm:cxn modelId="{9C80E958-3ACD-4843-8B10-0B30455ECB65}" srcId="{4EE9B7D0-61A9-4791-85DC-5D660DDD48F1}" destId="{A8CCA287-E815-4A04-BC24-93444568B5B3}" srcOrd="1" destOrd="0" parTransId="{ED0961A8-25B2-413D-8A93-C3B24CFF4D1D}" sibTransId="{E40EFD13-4C98-4CA7-8489-D1414A7D5D82}"/>
    <dgm:cxn modelId="{93904B9A-2EBE-402A-8AE9-12D7C613BE8D}" type="presOf" srcId="{3B7069CC-F4A6-4DCC-8661-B4BDB1681290}" destId="{A151F55C-FD50-404E-B478-D6181D175AE7}" srcOrd="0" destOrd="0" presId="urn:microsoft.com/office/officeart/2018/2/layout/IconVerticalSolidList"/>
    <dgm:cxn modelId="{7B973FDC-3623-45C1-874D-2928DCDB7E47}" type="presOf" srcId="{08D6B79C-57A7-4FBC-8A85-53AA6A98CF94}" destId="{D54EB964-16E1-411E-9C8A-27010A5F2516}" srcOrd="0" destOrd="0" presId="urn:microsoft.com/office/officeart/2018/2/layout/IconVerticalSolidList"/>
    <dgm:cxn modelId="{5CCB30FD-D0B4-4344-8CF2-D4BB7F6D428E}" srcId="{4EE9B7D0-61A9-4791-85DC-5D660DDD48F1}" destId="{C2716829-4C6A-4C74-9990-60DEEC411796}" srcOrd="0" destOrd="0" parTransId="{A9DD2791-12E4-4D6B-B01B-CF757B1325B4}" sibTransId="{F7C5F259-5362-4348-A993-19D2E91765E9}"/>
    <dgm:cxn modelId="{A2DE022F-9DBE-4B98-99D9-55F41A02EEDE}" srcId="{4EE9B7D0-61A9-4791-85DC-5D660DDD48F1}" destId="{6791EBB4-EDEF-4697-B28F-0D03F6CAF177}" srcOrd="4" destOrd="0" parTransId="{42B4BBFC-C033-451D-BCA9-B0A9A12186E5}" sibTransId="{703FB6E4-CFDE-418A-968E-EDDAAE12890C}"/>
    <dgm:cxn modelId="{F2F45B5D-EB61-4651-A7DF-B6916DD0E50E}" type="presOf" srcId="{6791EBB4-EDEF-4697-B28F-0D03F6CAF177}" destId="{37BCC982-C0DC-473C-AF78-1788940452AF}" srcOrd="0" destOrd="0" presId="urn:microsoft.com/office/officeart/2018/2/layout/IconVerticalSolidList"/>
    <dgm:cxn modelId="{D6501ABA-88ED-4ED4-825D-A50C492A6A2B}" type="presOf" srcId="{A8CCA287-E815-4A04-BC24-93444568B5B3}" destId="{2EFAAB62-F905-412E-A430-0E4D48B05568}" srcOrd="0" destOrd="0" presId="urn:microsoft.com/office/officeart/2018/2/layout/IconVerticalSolidList"/>
    <dgm:cxn modelId="{FBD403FD-7765-4AB2-8BAE-7666B3B7CE70}" type="presOf" srcId="{C2716829-4C6A-4C74-9990-60DEEC411796}" destId="{942ACE10-6522-40B4-99D0-BCF38F1681CF}" srcOrd="0" destOrd="0" presId="urn:microsoft.com/office/officeart/2018/2/layout/IconVerticalSolidList"/>
    <dgm:cxn modelId="{5E3E3A60-5F9E-41B8-BF7A-DD89A2E3464E}" srcId="{4EE9B7D0-61A9-4791-85DC-5D660DDD48F1}" destId="{08D6B79C-57A7-4FBC-8A85-53AA6A98CF94}" srcOrd="2" destOrd="0" parTransId="{8F954351-10D5-492B-89F1-D5E0494DE2DE}" sibTransId="{973F352B-AB5E-420D-94F7-A784239916A7}"/>
    <dgm:cxn modelId="{216BDF5C-DAAA-4D70-A9AB-4678AD5E151D}" type="presParOf" srcId="{2664399A-E047-47AB-94B9-AC0DFE11FD2C}" destId="{56A55EF3-1EA2-4A18-85C7-DBA137CF47BE}" srcOrd="0" destOrd="0" presId="urn:microsoft.com/office/officeart/2018/2/layout/IconVerticalSolidList"/>
    <dgm:cxn modelId="{FC35C918-41CA-40AE-84E6-35D00B589990}" type="presParOf" srcId="{56A55EF3-1EA2-4A18-85C7-DBA137CF47BE}" destId="{4CFDA47A-77F5-46CF-B9D4-07E520CFD662}" srcOrd="0" destOrd="0" presId="urn:microsoft.com/office/officeart/2018/2/layout/IconVerticalSolidList"/>
    <dgm:cxn modelId="{C7D4032D-9784-4BE1-AEFE-534E9836C8CF}" type="presParOf" srcId="{56A55EF3-1EA2-4A18-85C7-DBA137CF47BE}" destId="{4E15DB1C-410B-4A6A-9201-C4EE1C3A6D7C}" srcOrd="1" destOrd="0" presId="urn:microsoft.com/office/officeart/2018/2/layout/IconVerticalSolidList"/>
    <dgm:cxn modelId="{0B341FE5-B6FC-48F2-B44A-D82D082A21C2}" type="presParOf" srcId="{56A55EF3-1EA2-4A18-85C7-DBA137CF47BE}" destId="{88B2C01A-C887-44D3-9A29-DBD876896992}" srcOrd="2" destOrd="0" presId="urn:microsoft.com/office/officeart/2018/2/layout/IconVerticalSolidList"/>
    <dgm:cxn modelId="{69F42914-1ADC-4603-A305-C8B894D76EC0}" type="presParOf" srcId="{56A55EF3-1EA2-4A18-85C7-DBA137CF47BE}" destId="{942ACE10-6522-40B4-99D0-BCF38F1681CF}" srcOrd="3" destOrd="0" presId="urn:microsoft.com/office/officeart/2018/2/layout/IconVerticalSolidList"/>
    <dgm:cxn modelId="{AE8F7F1B-6B40-4406-A09A-5310C92180D5}" type="presParOf" srcId="{2664399A-E047-47AB-94B9-AC0DFE11FD2C}" destId="{8B0079D2-E1C0-4AA2-BD88-7705C8387F4A}" srcOrd="1" destOrd="0" presId="urn:microsoft.com/office/officeart/2018/2/layout/IconVerticalSolidList"/>
    <dgm:cxn modelId="{409ED8E7-BBC6-40B6-A50C-3F748B9A6D82}" type="presParOf" srcId="{2664399A-E047-47AB-94B9-AC0DFE11FD2C}" destId="{B59CC7F0-2685-4048-A1E3-42878E9E0FB2}" srcOrd="2" destOrd="0" presId="urn:microsoft.com/office/officeart/2018/2/layout/IconVerticalSolidList"/>
    <dgm:cxn modelId="{E1134191-91B5-46F3-BA60-AD6FE9649B41}" type="presParOf" srcId="{B59CC7F0-2685-4048-A1E3-42878E9E0FB2}" destId="{42F1B256-5D76-4A65-8248-131B7074FF25}" srcOrd="0" destOrd="0" presId="urn:microsoft.com/office/officeart/2018/2/layout/IconVerticalSolidList"/>
    <dgm:cxn modelId="{38ED8877-4A2A-41B1-AD2F-ABED8FDA1024}" type="presParOf" srcId="{B59CC7F0-2685-4048-A1E3-42878E9E0FB2}" destId="{104F3AA8-DFEE-4CB2-AA8B-9124D87B76D4}" srcOrd="1" destOrd="0" presId="urn:microsoft.com/office/officeart/2018/2/layout/IconVerticalSolidList"/>
    <dgm:cxn modelId="{2F9D586C-0B27-4F9D-BE13-DE4FF328F635}" type="presParOf" srcId="{B59CC7F0-2685-4048-A1E3-42878E9E0FB2}" destId="{12ABBD4B-5C0B-4877-81CE-000CEB4EF1B0}" srcOrd="2" destOrd="0" presId="urn:microsoft.com/office/officeart/2018/2/layout/IconVerticalSolidList"/>
    <dgm:cxn modelId="{D1AFF97E-3FB4-47EE-9CE5-6347D67A881C}" type="presParOf" srcId="{B59CC7F0-2685-4048-A1E3-42878E9E0FB2}" destId="{2EFAAB62-F905-412E-A430-0E4D48B05568}" srcOrd="3" destOrd="0" presId="urn:microsoft.com/office/officeart/2018/2/layout/IconVerticalSolidList"/>
    <dgm:cxn modelId="{233D5853-3EDB-49BE-A93F-3C76C6F2BF55}" type="presParOf" srcId="{2664399A-E047-47AB-94B9-AC0DFE11FD2C}" destId="{AE4F0AC5-A9D3-4018-995F-E70EF07A88D9}" srcOrd="3" destOrd="0" presId="urn:microsoft.com/office/officeart/2018/2/layout/IconVerticalSolidList"/>
    <dgm:cxn modelId="{EFD3EDEE-38D9-4858-AE63-3BABA970BC46}" type="presParOf" srcId="{2664399A-E047-47AB-94B9-AC0DFE11FD2C}" destId="{0E779A0E-34E3-4871-A9DA-72B59CDC2DBE}" srcOrd="4" destOrd="0" presId="urn:microsoft.com/office/officeart/2018/2/layout/IconVerticalSolidList"/>
    <dgm:cxn modelId="{F18479FB-7300-40C7-ABD3-BAB8416D721D}" type="presParOf" srcId="{0E779A0E-34E3-4871-A9DA-72B59CDC2DBE}" destId="{4A11740B-F228-4A98-B2F9-81A5F52D7741}" srcOrd="0" destOrd="0" presId="urn:microsoft.com/office/officeart/2018/2/layout/IconVerticalSolidList"/>
    <dgm:cxn modelId="{EF8C36A4-AE8D-4041-9E45-AC5DFFE07E24}" type="presParOf" srcId="{0E779A0E-34E3-4871-A9DA-72B59CDC2DBE}" destId="{45F21A17-721B-4E44-B854-3C408EDD1BCA}" srcOrd="1" destOrd="0" presId="urn:microsoft.com/office/officeart/2018/2/layout/IconVerticalSolidList"/>
    <dgm:cxn modelId="{2FF1E4CA-46C9-4362-86D9-ABE28A8D6914}" type="presParOf" srcId="{0E779A0E-34E3-4871-A9DA-72B59CDC2DBE}" destId="{7AEDCE75-B8BF-4EE9-9DA2-2E30DD210F15}" srcOrd="2" destOrd="0" presId="urn:microsoft.com/office/officeart/2018/2/layout/IconVerticalSolidList"/>
    <dgm:cxn modelId="{3FDB1E93-7574-432C-9ACF-C4B131604305}" type="presParOf" srcId="{0E779A0E-34E3-4871-A9DA-72B59CDC2DBE}" destId="{D54EB964-16E1-411E-9C8A-27010A5F2516}" srcOrd="3" destOrd="0" presId="urn:microsoft.com/office/officeart/2018/2/layout/IconVerticalSolidList"/>
    <dgm:cxn modelId="{BF9677F0-ECB0-4B5E-B6D0-348D1FA54FA2}" type="presParOf" srcId="{2664399A-E047-47AB-94B9-AC0DFE11FD2C}" destId="{516E2FC1-0F66-4E8E-9CD0-085722EE7F63}" srcOrd="5" destOrd="0" presId="urn:microsoft.com/office/officeart/2018/2/layout/IconVerticalSolidList"/>
    <dgm:cxn modelId="{75A4847F-6BA3-40D0-85A1-E474D2A8BF42}" type="presParOf" srcId="{2664399A-E047-47AB-94B9-AC0DFE11FD2C}" destId="{E40BCFA9-5480-4BB5-BCB6-A273699204AA}" srcOrd="6" destOrd="0" presId="urn:microsoft.com/office/officeart/2018/2/layout/IconVerticalSolidList"/>
    <dgm:cxn modelId="{F2B3A49A-D374-4756-BA9C-7ABF4D925008}" type="presParOf" srcId="{E40BCFA9-5480-4BB5-BCB6-A273699204AA}" destId="{31DFDACF-02A0-425B-837C-19058BB4569B}" srcOrd="0" destOrd="0" presId="urn:microsoft.com/office/officeart/2018/2/layout/IconVerticalSolidList"/>
    <dgm:cxn modelId="{B4C49B09-BD39-4951-AFEF-70C086D3BA01}" type="presParOf" srcId="{E40BCFA9-5480-4BB5-BCB6-A273699204AA}" destId="{A9652CA4-856E-4939-A320-9315823D4AFD}" srcOrd="1" destOrd="0" presId="urn:microsoft.com/office/officeart/2018/2/layout/IconVerticalSolidList"/>
    <dgm:cxn modelId="{FB8C9BF4-FA08-4B93-9777-E7551A82B53B}" type="presParOf" srcId="{E40BCFA9-5480-4BB5-BCB6-A273699204AA}" destId="{3F1CF666-C8B1-4CF1-B85A-DE0515BF93B9}" srcOrd="2" destOrd="0" presId="urn:microsoft.com/office/officeart/2018/2/layout/IconVerticalSolidList"/>
    <dgm:cxn modelId="{ABFF2F41-4F12-4C06-9613-EE70CAAB6136}" type="presParOf" srcId="{E40BCFA9-5480-4BB5-BCB6-A273699204AA}" destId="{A151F55C-FD50-404E-B478-D6181D175AE7}" srcOrd="3" destOrd="0" presId="urn:microsoft.com/office/officeart/2018/2/layout/IconVerticalSolidList"/>
    <dgm:cxn modelId="{F89F9C0E-AD01-4184-800D-49E3D5CE1DAA}" type="presParOf" srcId="{2664399A-E047-47AB-94B9-AC0DFE11FD2C}" destId="{05BA6ACA-7214-489C-90F7-26973756E247}" srcOrd="7" destOrd="0" presId="urn:microsoft.com/office/officeart/2018/2/layout/IconVerticalSolidList"/>
    <dgm:cxn modelId="{191AF89C-3175-4268-9C15-DD26CEC3FBA4}" type="presParOf" srcId="{2664399A-E047-47AB-94B9-AC0DFE11FD2C}" destId="{CFAF7D4D-C104-42FC-A8C6-F287CAF68434}" srcOrd="8" destOrd="0" presId="urn:microsoft.com/office/officeart/2018/2/layout/IconVerticalSolidList"/>
    <dgm:cxn modelId="{B7EC05B1-B28F-4683-BC3A-4EF0970A8E24}" type="presParOf" srcId="{CFAF7D4D-C104-42FC-A8C6-F287CAF68434}" destId="{CB421E6C-8CAA-47F4-A00E-C1A16F90BB72}" srcOrd="0" destOrd="0" presId="urn:microsoft.com/office/officeart/2018/2/layout/IconVerticalSolidList"/>
    <dgm:cxn modelId="{00751724-C5D5-4179-89E8-F760F2961E7B}" type="presParOf" srcId="{CFAF7D4D-C104-42FC-A8C6-F287CAF68434}" destId="{3CC34473-C7C3-46A1-8DA6-28CE6904478C}" srcOrd="1" destOrd="0" presId="urn:microsoft.com/office/officeart/2018/2/layout/IconVerticalSolidList"/>
    <dgm:cxn modelId="{DEC5E184-66CD-4F52-BEA4-13F393A75C5E}" type="presParOf" srcId="{CFAF7D4D-C104-42FC-A8C6-F287CAF68434}" destId="{E1F50C92-95E1-4827-8574-D4EABAEB8CA7}" srcOrd="2" destOrd="0" presId="urn:microsoft.com/office/officeart/2018/2/layout/IconVerticalSolidList"/>
    <dgm:cxn modelId="{6DCCB768-F3F7-4939-BC36-3FEF84F92E60}" type="presParOf" srcId="{CFAF7D4D-C104-42FC-A8C6-F287CAF68434}" destId="{37BCC982-C0DC-473C-AF78-1788940452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3EDE6-85FE-49CF-988E-680B79F95ADF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17531-5554-4389-A59E-7AA0C0B6A7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8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=""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=""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952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=""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=""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66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=""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=""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616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79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49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12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779616-D20E-0A98-3B7D-7A36EB269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E706DD5-B9C6-CD60-EC67-D2E7E0D8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5AF46B-18F7-1059-9236-292B8AF5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7EBF-B333-48E6-B7BF-CEFF5CB77496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9231837-6F1A-8B0B-9375-592EEB64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2EDD9F-518F-FEAE-1BA9-4BD1BFAF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828E7D-9A20-FF2E-9D46-6E922DC3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AA1DF0-F999-3469-60CC-3BA6C57B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D80D085-5074-6C3A-4BD7-A81C16A6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2A71-3BE8-4FDC-B8FB-432E66687B0F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91AA3B5-A46A-0AA2-9581-70790B3D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C4A0326-E485-556E-343B-D808F646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7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64CCDF-8E84-5868-E7A3-FDE52D74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716A0F9-711D-6CD9-43E9-E228A29D8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97CF1DD-2222-0BF6-9898-122D4B69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490A-3431-4DD1-A2F5-98B5ED9A8899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12FC87B-DA17-17BC-17B8-F9B0403C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D9C02C-B1BC-975F-F6A0-957A0114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2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63F497-B7F8-EDF4-33D7-0407049A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DA1995-C92E-A8A0-C35B-396029D52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90F6832-E76F-FC0F-BA55-6C79CB088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A60DD4E-ED78-B7D2-4128-27777437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7284-8F24-485A-BAA2-D203C44287CA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32E6C76-6E81-1B36-0A1B-47A74B0C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C5229B4-2AEB-7A97-F81A-5916A8EC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3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225A6D-5A82-6D51-6784-BD42A646F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3A9887-B2C0-EFB3-FD16-C8D4E4A51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04945EC-3428-6C7E-E1F3-DEA170409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BAC89FE-8556-C81C-053F-443D90D29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003D4DD-B499-4BAE-D74E-29FE85463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2C1809D-A7C2-3CC1-CA52-F841F13D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53761-0DE1-4621-A072-B4D198A1B152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948DD1F-FA86-CD60-8693-641CE57E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8B6EFBF-1735-A455-7D59-B4A948F3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3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EC43E1-5EDF-E751-FEAE-83D164B5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8FFD30D-1C69-D285-EFAE-285109EB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69AE-D928-451A-86CD-C5F2FAFA950E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33E1DEE-6729-0614-BC07-3BCBCCA7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DF86FF-DDD5-5ADF-27EA-2132FA73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5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AE9DFDB-275D-B3F3-2929-733ED303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B091-8B3A-44E3-A785-634488555F38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C619436-97FF-B143-AA5C-557D6E0A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414DAC8-B5AB-429E-7843-58B5F4AA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4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E2B726-CAD7-2D69-1926-521CB475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1C9874E-DE5C-C59A-B8E3-4A4929698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6DBE820-8CC2-6E29-8C04-34ACA4DCB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C21D9BC-D622-212D-2AED-AD468BB7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417EE-FD5A-4211-A7BC-D3BBD6A3DC09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9138B73-8ED5-6C7E-F135-AF2D7B4E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FF7A7D8-78C2-FFF5-0135-6EEA184F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9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E7CA5E-40BF-A637-B612-6447CDA2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24A6898-3FE8-2283-BA7B-3D8A8D34F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8C26FA9-01AC-76C8-E062-8F998677D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7478713-CDEE-ABDD-8115-13887251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733B0-DF5A-40FD-A036-8DCC5F14A9D2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AE8EB7D-4E9A-796B-B0FC-7CAAC5F9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B410AD2-9517-E376-BFF9-2727A5AF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0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FAD57F-7DCC-01ED-9B4C-E02ED32F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D0CAB7F-F6F1-4F94-901D-2545CA5C0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BCEB776-BBDF-EA91-A5C8-16C64D83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3B10E-FD33-425D-92A0-B6BEBB1EB8EA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ADAC7B-FC96-A9FF-97FD-E521BBB2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6CC5129-F021-F284-F65C-B995105C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4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FEE1DF0-8BAF-D09A-FC14-04540CC9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9A97D86-6CF2-2A33-73DB-A70C84FE5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208516-8826-A2CF-9E39-3D5A498C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3E46-A956-4FAF-8E11-033B5EBE2101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C864AF-5386-28CC-939B-6A2D272E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7D145F-22CD-C73C-EDFB-A4A5AF0B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1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4B0193C-D029-1F5C-3E61-5CAB5D38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1F082C8-0507-BFF5-E013-8208B5224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82D700E-7F1E-72A3-3E2D-B0D043845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974EA-B923-44FB-B88A-0FD76C8869A7}" type="datetime1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A314AA5-24C0-5346-D3BE-0A096ECDA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A194DCC-FB61-7FE3-A824-38BBE7BFA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4545A-7355-4AC1-B5F8-96DB118A62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3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0">
            <a:extLst>
              <a:ext uri="{FF2B5EF4-FFF2-40B4-BE49-F238E27FC236}">
                <a16:creationId xmlns="" xmlns:a16="http://schemas.microsoft.com/office/drawing/2014/main" id="{A8384FB5-9ADC-4DDC-881B-597D56F5B1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CECF0C-48F1-BA81-E267-6EE76E40D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741" y="1466669"/>
            <a:ext cx="11400515" cy="1239989"/>
          </a:xfrm>
        </p:spPr>
        <p:txBody>
          <a:bodyPr anchor="b">
            <a:normAutofit/>
          </a:bodyPr>
          <a:lstStyle/>
          <a:p>
            <a:r>
              <a:rPr lang="en-US" sz="3600" b="1" dirty="0" err="1" smtClean="0"/>
              <a:t>DeepTox</a:t>
            </a:r>
            <a:r>
              <a:rPr lang="en-US" sz="3600" b="1" dirty="0" smtClean="0"/>
              <a:t>-Pep: Predicting Peptide Toxicity Using Ensemble Machine Learning and Deep Neural Networks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12">
            <a:extLst>
              <a:ext uri="{FF2B5EF4-FFF2-40B4-BE49-F238E27FC236}">
                <a16:creationId xmlns="" xmlns:a16="http://schemas.microsoft.com/office/drawing/2014/main" id="{BC05CA36-AD6A-4ABF-9A05-52E5A143D2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D4331EE8-85A4-4588-8D9E-70E534D477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6">
            <a:extLst>
              <a:ext uri="{FF2B5EF4-FFF2-40B4-BE49-F238E27FC236}">
                <a16:creationId xmlns="" xmlns:a16="http://schemas.microsoft.com/office/drawing/2014/main" id="{49D6C862-61CC-4B46-8080-96583D653B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05A4429-1CB7-9223-1495-4B9614974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4994" y="4031320"/>
            <a:ext cx="6827006" cy="3173385"/>
          </a:xfrm>
          <a:noFill/>
          <a:ln>
            <a:noFill/>
          </a:ln>
        </p:spPr>
        <p:txBody>
          <a:bodyPr anchor="t">
            <a:normAutofit/>
          </a:bodyPr>
          <a:lstStyle/>
          <a:p>
            <a:r>
              <a:rPr lang="en-US" sz="2800" b="1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Presented By-</a:t>
            </a:r>
          </a:p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		</a:t>
            </a:r>
            <a:r>
              <a:rPr lang="en-US" b="1" dirty="0" err="1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Moriom</a:t>
            </a:r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Afrin Soya(221-35-850)</a:t>
            </a:r>
            <a:endParaRPr 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Abdul </a:t>
            </a:r>
            <a:r>
              <a:rPr lang="en-US" sz="2000" b="1" dirty="0" err="1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Hye</a:t>
            </a: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Zebon</a:t>
            </a:r>
            <a:endParaRPr lang="en-US" sz="2000" b="1" dirty="0" smtClean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  Department of Software Engineering</a:t>
            </a:r>
          </a:p>
          <a:p>
            <a:endParaRPr 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E37EECFC-A684-4391-AE85-4CDAF5565F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6" name="AutoShape 2" descr="https://images.seeklogo.com/logo-png/42/1/daffodil-international-university-logo-png_seeklogo-427709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https://images.seeklogo.com/logo-png/42/1/daffodil-international-university-logo-png_seeklogo-427709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daffodil-international-university-logo-png_seeklogo-4277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980" y="228600"/>
            <a:ext cx="1379220" cy="13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=""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1264708" y="371100"/>
            <a:ext cx="9662584" cy="1081617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graphicFrame>
        <p:nvGraphicFramePr>
          <p:cNvPr id="8" name="Google Shape;274;p2">
            <a:extLst>
              <a:ext uri="{FF2B5EF4-FFF2-40B4-BE49-F238E27FC236}">
                <a16:creationId xmlns="" xmlns:a16="http://schemas.microsoft.com/office/drawing/2014/main" id="{5EDD12E7-9E7E-7DE5-68BD-71108405DE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834932"/>
              </p:ext>
            </p:extLst>
          </p:nvPr>
        </p:nvGraphicFramePr>
        <p:xfrm>
          <a:off x="1368313" y="1742701"/>
          <a:ext cx="6987897" cy="4222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daffodil-international-university-logo-png_seeklogo-4277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7980" y="228600"/>
            <a:ext cx="1379220" cy="1379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=""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357777" y="285053"/>
            <a:ext cx="8488908" cy="1081617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&amp; Problem Statement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daffodil-international-university-logo-png_seeklogo-427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952" y="214085"/>
            <a:ext cx="1379220" cy="13792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8373" y="1923392"/>
            <a:ext cx="799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71714" y="1281611"/>
            <a:ext cx="1069848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Research Gaps:</a:t>
            </a:r>
          </a:p>
          <a:p>
            <a:r>
              <a:rPr lang="en-US" sz="2400" dirty="0" smtClean="0"/>
              <a:t>1. Most models focus only on </a:t>
            </a:r>
            <a:r>
              <a:rPr lang="en-US" sz="2400" b="1" dirty="0" smtClean="0"/>
              <a:t>hemolytic toxicity</a:t>
            </a:r>
            <a:r>
              <a:rPr lang="en-US" sz="2400" dirty="0" smtClean="0"/>
              <a:t>, ignoring other types (e.g.,                 </a:t>
            </a:r>
            <a:r>
              <a:rPr lang="en-US" sz="2400" dirty="0" err="1" smtClean="0"/>
              <a:t>cytotoxicity</a:t>
            </a:r>
            <a:r>
              <a:rPr lang="en-US" sz="2400" dirty="0" smtClean="0"/>
              <a:t>).</a:t>
            </a:r>
          </a:p>
          <a:p>
            <a:r>
              <a:rPr lang="en-US" sz="2400" b="1" dirty="0" smtClean="0"/>
              <a:t>2. Deep learning models lack interpretability</a:t>
            </a:r>
            <a:r>
              <a:rPr lang="en-US" sz="2400" dirty="0" smtClean="0"/>
              <a:t> — hard to explain predictions.</a:t>
            </a:r>
          </a:p>
          <a:p>
            <a:r>
              <a:rPr lang="en-US" sz="2400" dirty="0" smtClean="0"/>
              <a:t>3. Trained mostly on </a:t>
            </a:r>
            <a:r>
              <a:rPr lang="en-US" sz="2400" b="1" dirty="0" smtClean="0"/>
              <a:t>long proteins</a:t>
            </a:r>
            <a:r>
              <a:rPr lang="en-US" sz="2400" dirty="0" smtClean="0"/>
              <a:t>, not optimized for </a:t>
            </a:r>
            <a:r>
              <a:rPr lang="en-US" sz="2400" b="1" dirty="0" smtClean="0"/>
              <a:t>short therapeutic peptides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4. Some rely on </a:t>
            </a:r>
            <a:r>
              <a:rPr lang="en-US" sz="2400" b="1" dirty="0" smtClean="0"/>
              <a:t>handcrafted features</a:t>
            </a:r>
            <a:r>
              <a:rPr lang="en-US" sz="2400" dirty="0" smtClean="0"/>
              <a:t> or </a:t>
            </a:r>
            <a:r>
              <a:rPr lang="en-US" sz="2400" b="1" dirty="0" smtClean="0"/>
              <a:t>synthetic sampling</a:t>
            </a:r>
            <a:r>
              <a:rPr lang="en-US" sz="2400" dirty="0" smtClean="0"/>
              <a:t>, reducing real-world   accuracy.</a:t>
            </a:r>
          </a:p>
          <a:p>
            <a:r>
              <a:rPr lang="en-US" sz="2400" dirty="0" smtClean="0"/>
              <a:t>5. Few are built for </a:t>
            </a:r>
            <a:r>
              <a:rPr lang="en-US" sz="2400" b="1" dirty="0" smtClean="0"/>
              <a:t>practical use</a:t>
            </a:r>
            <a:r>
              <a:rPr lang="en-US" sz="2400" dirty="0" smtClean="0"/>
              <a:t> (no web tools or APIs).</a:t>
            </a:r>
          </a:p>
          <a:p>
            <a:pPr marL="457200" indent="-457200">
              <a:buFont typeface="+mj-lt"/>
              <a:buAutoNum type="arabicPeriod"/>
            </a:pPr>
            <a:endParaRPr lang="en-US" sz="2400" b="1" u="sng" dirty="0" smtClean="0"/>
          </a:p>
          <a:p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431800" y="4330700"/>
            <a:ext cx="10858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Problem Statement</a:t>
            </a:r>
          </a:p>
          <a:p>
            <a:r>
              <a:rPr lang="en-US" sz="2400" dirty="0" smtClean="0"/>
              <a:t>1.Current peptide toxicity prediction tools struggle with </a:t>
            </a:r>
            <a:r>
              <a:rPr lang="en-US" sz="2400" b="1" dirty="0" smtClean="0"/>
              <a:t>toxicity diversity</a:t>
            </a:r>
            <a:r>
              <a:rPr lang="en-US" sz="2400" dirty="0" smtClean="0"/>
              <a:t>, </a:t>
            </a:r>
            <a:r>
              <a:rPr lang="en-US" sz="2400" b="1" dirty="0" smtClean="0"/>
              <a:t>interpretability</a:t>
            </a:r>
            <a:r>
              <a:rPr lang="en-US" sz="2400" dirty="0" smtClean="0"/>
              <a:t>, and </a:t>
            </a:r>
            <a:r>
              <a:rPr lang="en-US" sz="2400" b="1" dirty="0" smtClean="0"/>
              <a:t>generalization</a:t>
            </a:r>
            <a:r>
              <a:rPr lang="en-US" sz="2400" dirty="0" smtClean="0"/>
              <a:t> to short peptides.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2.There is a need for a </a:t>
            </a:r>
            <a:r>
              <a:rPr lang="en-US" sz="2400" b="1" dirty="0" smtClean="0"/>
              <a:t>simple, explainable, and deployable deep learning model</a:t>
            </a:r>
            <a:r>
              <a:rPr lang="en-US" sz="2400" dirty="0" smtClean="0"/>
              <a:t> that accurately predicts toxicity in short therapeutic peptides.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391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=""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376429" y="640702"/>
            <a:ext cx="7854985" cy="1360455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SzPts val="4400"/>
              <a:defRPr/>
            </a:pP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</a:t>
            </a:r>
            <a:r>
              <a:rPr lang="en-US" sz="4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Clr>
                <a:srgbClr val="000000"/>
              </a:buClr>
              <a:buSzPts val="4400"/>
              <a:defRPr/>
            </a:pPr>
            <a:endParaRPr lang="en-US" sz="4000" b="1" kern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daffodil-international-university-logo-png_seeklogo-427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980" y="228600"/>
            <a:ext cx="1379220" cy="1379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9377" y="1473563"/>
            <a:ext cx="106854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This research targets three key gaps:</a:t>
            </a:r>
          </a:p>
          <a:p>
            <a:r>
              <a:rPr lang="en-US" sz="2400" dirty="0" smtClean="0"/>
              <a:t>Limited support for </a:t>
            </a:r>
            <a:r>
              <a:rPr lang="en-US" sz="2400" b="1" dirty="0" smtClean="0"/>
              <a:t>short therapeutic peptides</a:t>
            </a:r>
            <a:endParaRPr lang="en-US" sz="2400" dirty="0" smtClean="0"/>
          </a:p>
          <a:p>
            <a:r>
              <a:rPr lang="en-US" sz="2400" dirty="0" smtClean="0"/>
              <a:t>Lack of </a:t>
            </a:r>
            <a:r>
              <a:rPr lang="en-US" sz="2400" b="1" dirty="0" smtClean="0"/>
              <a:t>model interpretability</a:t>
            </a:r>
            <a:endParaRPr lang="en-US" sz="2400" dirty="0" smtClean="0"/>
          </a:p>
          <a:p>
            <a:r>
              <a:rPr lang="en-US" sz="2400" dirty="0" smtClean="0"/>
              <a:t>No </a:t>
            </a:r>
            <a:r>
              <a:rPr lang="en-US" sz="2400" b="1" dirty="0" smtClean="0"/>
              <a:t>practical, user-friendly tools</a:t>
            </a:r>
          </a:p>
          <a:p>
            <a:endParaRPr lang="en-US" sz="2400" dirty="0" smtClean="0"/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Why this topic?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Peptide-based drugs are growing, but toxicity remains a risk.</a:t>
            </a:r>
            <a:br>
              <a:rPr lang="en-US" sz="2400" dirty="0" smtClean="0"/>
            </a:br>
            <a:r>
              <a:rPr lang="en-US" sz="2400" dirty="0" smtClean="0"/>
              <a:t>Existing tools are either too complex or not reliable for short peptides—</a:t>
            </a:r>
          </a:p>
          <a:p>
            <a:r>
              <a:rPr lang="en-US" sz="2400" dirty="0" smtClean="0"/>
              <a:t>That’s why </a:t>
            </a:r>
            <a:r>
              <a:rPr lang="en-US" sz="2400" dirty="0" err="1" smtClean="0"/>
              <a:t>i</a:t>
            </a:r>
            <a:r>
              <a:rPr lang="en-US" sz="2400" dirty="0" smtClean="0"/>
              <a:t> aim to build a model that is </a:t>
            </a:r>
            <a:r>
              <a:rPr lang="en-US" sz="2400" b="1" dirty="0" smtClean="0"/>
              <a:t>accurate, explainable, and usable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304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338B34-69C8-51EB-7100-DE53FD49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22" y="1460746"/>
            <a:ext cx="10193664" cy="4589857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Develop an interpretable deep learning model</a:t>
            </a:r>
            <a:r>
              <a:rPr lang="en-US" sz="2400" dirty="0" smtClean="0"/>
              <a:t> specifically optimized for predicting toxicity in </a:t>
            </a:r>
            <a:r>
              <a:rPr lang="en-US" sz="2400" b="1" dirty="0" smtClean="0"/>
              <a:t>short therapeutic peptides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/>
              <a:t>Contribution:</a:t>
            </a:r>
            <a:r>
              <a:rPr lang="en-US" sz="2400" dirty="0" smtClean="0"/>
              <a:t> Enhanced accuracy and </a:t>
            </a:r>
            <a:r>
              <a:rPr lang="en-US" sz="2400" dirty="0" err="1" smtClean="0"/>
              <a:t>explainability</a:t>
            </a:r>
            <a:r>
              <a:rPr lang="en-US" sz="2400" dirty="0" smtClean="0"/>
              <a:t> using attention mechanisms or SHAP values.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b="1" dirty="0" smtClean="0"/>
              <a:t>Create a practical and user-friendly web tool</a:t>
            </a:r>
            <a:r>
              <a:rPr lang="en-US" sz="2400" dirty="0" smtClean="0"/>
              <a:t> to enable real-time peptide toxicity screening for researchers and practitioners.</a:t>
            </a:r>
          </a:p>
          <a:p>
            <a:r>
              <a:rPr lang="en-US" sz="2400" i="1" dirty="0" smtClean="0"/>
              <a:t>Contribution:</a:t>
            </a:r>
            <a:r>
              <a:rPr lang="en-US" sz="2400" dirty="0" smtClean="0"/>
              <a:t> Bridging the gap between research and application with an accessible platform.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 descr="daffodil-international-university-logo-png_seeklogo-427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980" y="228600"/>
            <a:ext cx="1379220" cy="13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0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Scope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daffodil-international-university-logo-png_seeklogo-427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980" y="228600"/>
            <a:ext cx="1379220" cy="13792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7594" y="1488440"/>
            <a:ext cx="111948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Focus Area: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Prediction of toxicity specifically in </a:t>
            </a:r>
            <a:r>
              <a:rPr lang="en-US" sz="2400" b="1" dirty="0" smtClean="0"/>
              <a:t>short therapeutic peptides</a:t>
            </a:r>
            <a:r>
              <a:rPr lang="en-US" sz="2400" dirty="0" smtClean="0"/>
              <a:t> (length ≤ 50 amino acids).</a:t>
            </a:r>
          </a:p>
          <a:p>
            <a:r>
              <a:rPr lang="en-US" sz="2400" b="1" dirty="0" smtClean="0"/>
              <a:t>Toxicity Types Covered:</a:t>
            </a:r>
            <a:endParaRPr lang="en-US" sz="2400" dirty="0" smtClean="0"/>
          </a:p>
          <a:p>
            <a:pPr lvl="1"/>
            <a:r>
              <a:rPr lang="en-US" sz="2400" dirty="0" smtClean="0"/>
              <a:t>Hemolytic toxicity</a:t>
            </a:r>
          </a:p>
          <a:p>
            <a:pPr lvl="1"/>
            <a:r>
              <a:rPr lang="en-US" sz="2400" dirty="0" err="1" smtClean="0"/>
              <a:t>Cytotoxicity</a:t>
            </a:r>
            <a:r>
              <a:rPr lang="en-US" sz="2400" dirty="0" smtClean="0"/>
              <a:t> (where data is available)</a:t>
            </a:r>
          </a:p>
          <a:p>
            <a:r>
              <a:rPr lang="en-US" sz="2400" b="1" dirty="0" smtClean="0"/>
              <a:t>Data and Benchmarks:</a:t>
            </a:r>
            <a:endParaRPr lang="en-US" sz="2400" dirty="0" smtClean="0"/>
          </a:p>
          <a:p>
            <a:pPr lvl="1"/>
            <a:r>
              <a:rPr lang="en-US" sz="2400" dirty="0" smtClean="0"/>
              <a:t>Use of publicly available peptide toxicity datasets (e.g., </a:t>
            </a:r>
            <a:r>
              <a:rPr lang="en-US" sz="2400" dirty="0" err="1" smtClean="0"/>
              <a:t>Hemolysis</a:t>
            </a:r>
            <a:r>
              <a:rPr lang="en-US" sz="2400" dirty="0" smtClean="0"/>
              <a:t>, </a:t>
            </a:r>
            <a:r>
              <a:rPr lang="en-US" sz="2400" dirty="0" err="1" smtClean="0"/>
              <a:t>ToxIBTL</a:t>
            </a:r>
            <a:r>
              <a:rPr lang="en-US" sz="2400" dirty="0" smtClean="0"/>
              <a:t> benchmark)</a:t>
            </a:r>
          </a:p>
          <a:p>
            <a:pPr lvl="1"/>
            <a:r>
              <a:rPr lang="en-US" sz="2400" dirty="0" smtClean="0"/>
              <a:t>Validation using standard metrics: Accuracy, AUC, F1-score</a:t>
            </a:r>
          </a:p>
          <a:p>
            <a:r>
              <a:rPr lang="en-US" sz="2400" b="1" dirty="0" smtClean="0"/>
              <a:t>Excluded from Scope:</a:t>
            </a:r>
            <a:endParaRPr lang="en-US" sz="2400" dirty="0" smtClean="0"/>
          </a:p>
          <a:p>
            <a:pPr lvl="1"/>
            <a:r>
              <a:rPr lang="en-US" sz="2400" dirty="0" smtClean="0"/>
              <a:t>Structural modeling of peptides (3D features not considered)</a:t>
            </a:r>
          </a:p>
          <a:p>
            <a:pPr lvl="1"/>
            <a:r>
              <a:rPr lang="en-US" sz="2400" dirty="0" smtClean="0"/>
              <a:t>Experimental wet-lab validation (purely computational study)</a:t>
            </a:r>
          </a:p>
          <a:p>
            <a:pPr lvl="1"/>
            <a:r>
              <a:rPr lang="en-US" sz="2400" dirty="0" smtClean="0"/>
              <a:t>Prediction of non-toxicity-related properties (e.g., antimicrobial activity)</a:t>
            </a:r>
          </a:p>
          <a:p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09283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545601" y="1528355"/>
          <a:ext cx="10393365" cy="473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673"/>
                <a:gridCol w="2078673"/>
                <a:gridCol w="2078673"/>
                <a:gridCol w="2078673"/>
                <a:gridCol w="2078673"/>
              </a:tblGrid>
              <a:tr h="405592">
                <a:tc>
                  <a:txBody>
                    <a:bodyPr/>
                    <a:lstStyle/>
                    <a:p>
                      <a:r>
                        <a:rPr lang="en-US" dirty="0" smtClean="0"/>
                        <a:t>Paper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Model Used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Evaluation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Limitations</a:t>
                      </a:r>
                      <a:endParaRPr lang="en-US" dirty="0"/>
                    </a:p>
                  </a:txBody>
                  <a:tcPr/>
                </a:tc>
              </a:tr>
              <a:tr h="707653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PeptideBERT</a:t>
                      </a:r>
                      <a:r>
                        <a:rPr lang="en-US" sz="1800" dirty="0" smtClean="0"/>
                        <a:t> (2023)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ProtBERT</a:t>
                      </a:r>
                      <a:r>
                        <a:rPr lang="en-US" sz="1800" dirty="0" smtClean="0"/>
                        <a:t> Transformer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Tokenized sequences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86% </a:t>
                      </a:r>
                      <a:r>
                        <a:rPr lang="en-US" sz="1800" dirty="0" err="1" smtClean="0"/>
                        <a:t>hemolysis</a:t>
                      </a:r>
                      <a:r>
                        <a:rPr lang="en-US" sz="1800" dirty="0" smtClean="0"/>
                        <a:t>, 88% non-fouling, 70% solubility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Only sequence, limited </a:t>
                      </a:r>
                      <a:r>
                        <a:rPr lang="en-US" sz="1800" dirty="0" err="1" smtClean="0"/>
                        <a:t>generalizability</a:t>
                      </a:r>
                      <a:endParaRPr lang="en-US" sz="1800" dirty="0" smtClean="0"/>
                    </a:p>
                  </a:txBody>
                  <a:tcPr/>
                </a:tc>
              </a:tr>
              <a:tr h="1139481">
                <a:tc>
                  <a:txBody>
                    <a:bodyPr/>
                    <a:lstStyle/>
                    <a:p>
                      <a:r>
                        <a:rPr lang="en-US" dirty="0" err="1"/>
                        <a:t>pLMFPPred</a:t>
                      </a:r>
                      <a:r>
                        <a:rPr lang="en-US" dirty="0"/>
                        <a:t>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ESM‑2 embeddings + 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Transformer embeddings, SHAP, SMOTE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AUC ≈ 0.99, high 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Imbalance synthetic data; not toxicity-specific</a:t>
                      </a:r>
                      <a:endParaRPr lang="en-US" dirty="0"/>
                    </a:p>
                  </a:txBody>
                  <a:tcPr/>
                </a:tc>
              </a:tr>
              <a:tr h="1139481">
                <a:tc>
                  <a:txBody>
                    <a:bodyPr/>
                    <a:lstStyle/>
                    <a:p>
                      <a:r>
                        <a:rPr lang="en-US" dirty="0" smtClean="0"/>
                        <a:t>Multi-Peptide (2024)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BERT + GNN + CLIP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Sequence + graph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86% accuracy on </a:t>
                      </a:r>
                      <a:r>
                        <a:rPr lang="en-US" dirty="0" err="1" smtClean="0"/>
                        <a:t>hemolysis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Needs structural data + complexity</a:t>
                      </a:r>
                      <a:endParaRPr lang="en-US" dirty="0"/>
                    </a:p>
                  </a:txBody>
                  <a:tcPr/>
                </a:tc>
              </a:tr>
              <a:tr h="113948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ToxTeller</a:t>
                      </a:r>
                      <a:r>
                        <a:rPr lang="en-US" dirty="0" smtClean="0"/>
                        <a:t> (2024)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Ensemble 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AAC, DPC, physicochemical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Robust </a:t>
                      </a:r>
                      <a:r>
                        <a:rPr lang="en-US" dirty="0" err="1" smtClean="0"/>
                        <a:t>vs</a:t>
                      </a:r>
                      <a:r>
                        <a:rPr lang="en-US" dirty="0" smtClean="0"/>
                        <a:t> benchmarks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Handcrafted features; limited length range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Picture 6" descr="daffodil-international-university-logo-png_seeklogo-427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980" y="228600"/>
            <a:ext cx="1379220" cy="13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8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76689" y="1851660"/>
          <a:ext cx="10515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222522">
                <a:tc>
                  <a:txBody>
                    <a:bodyPr/>
                    <a:lstStyle/>
                    <a:p>
                      <a:r>
                        <a:rPr lang="en-US" dirty="0" smtClean="0"/>
                        <a:t>Paper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Model Used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Features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Evaluation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Wei et al. (2022)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CNN + </a:t>
                      </a:r>
                      <a:r>
                        <a:rPr lang="en-US" dirty="0" err="1" smtClean="0"/>
                        <a:t>BiGRU</a:t>
                      </a:r>
                      <a:r>
                        <a:rPr lang="en-US" dirty="0" smtClean="0"/>
                        <a:t> + Attention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Embeddings + evolutionary, structural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ACC, AUC, MCC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Heavy on PSSM; may not fit peptides well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ToxMVA</a:t>
                      </a:r>
                      <a:r>
                        <a:rPr lang="en-US" dirty="0" smtClean="0"/>
                        <a:t> (2022)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Deep </a:t>
                      </a:r>
                      <a:r>
                        <a:rPr lang="en-US" dirty="0" err="1" smtClean="0"/>
                        <a:t>autoencoder</a:t>
                      </a:r>
                      <a:r>
                        <a:rPr lang="en-US" dirty="0" smtClean="0"/>
                        <a:t> + classifier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Sequential + physicochemical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Sn</a:t>
                      </a:r>
                      <a:r>
                        <a:rPr lang="en-US" dirty="0" smtClean="0"/>
                        <a:t>, Sp, ACC, MCC, FDR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Long-protein biased; less interpretable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MultiToxPred</a:t>
                      </a:r>
                      <a:r>
                        <a:rPr lang="en-US" dirty="0" smtClean="0"/>
                        <a:t> 1.0 (2024)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RF/SVM/</a:t>
                      </a:r>
                      <a:r>
                        <a:rPr lang="en-US" dirty="0" err="1" smtClean="0"/>
                        <a:t>XGBoost</a:t>
                      </a:r>
                      <a:r>
                        <a:rPr lang="en-US" dirty="0" smtClean="0"/>
                        <a:t> ensemble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AAC, DPC, </a:t>
                      </a:r>
                      <a:r>
                        <a:rPr lang="en-US" dirty="0" err="1" smtClean="0"/>
                        <a:t>PseAAC</a:t>
                      </a:r>
                      <a:r>
                        <a:rPr lang="en-US" dirty="0" smtClean="0"/>
                        <a:t>, motifs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ACC, </a:t>
                      </a:r>
                      <a:r>
                        <a:rPr lang="fr-FR" dirty="0" err="1" smtClean="0"/>
                        <a:t>Prec</a:t>
                      </a:r>
                      <a:r>
                        <a:rPr lang="fr-FR" dirty="0" smtClean="0"/>
                        <a:t>, </a:t>
                      </a:r>
                      <a:r>
                        <a:rPr lang="fr-FR" dirty="0" err="1" smtClean="0"/>
                        <a:t>Rec</a:t>
                      </a:r>
                      <a:r>
                        <a:rPr lang="fr-FR" dirty="0" smtClean="0"/>
                        <a:t>, F1, AUC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peptide-focused; no embedding use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Szymczak</a:t>
                      </a:r>
                      <a:r>
                        <a:rPr lang="en-US" dirty="0" smtClean="0"/>
                        <a:t> &amp; </a:t>
                      </a:r>
                      <a:r>
                        <a:rPr lang="en-US" dirty="0" err="1" smtClean="0"/>
                        <a:t>Szczurek</a:t>
                      </a:r>
                      <a:r>
                        <a:rPr lang="en-US" dirty="0" smtClean="0"/>
                        <a:t> (2023)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ML + generative models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Sequence tokens, descriptors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Activity-toxicity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toxicity specificity; needs lab validation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daffodil-international-university-logo-png_seeklogo-4277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952" y="214085"/>
            <a:ext cx="1379220" cy="13792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63" y="691634"/>
            <a:ext cx="41780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Methodology</a:t>
            </a:r>
            <a:endParaRPr lang="en-US" b="1" dirty="0"/>
          </a:p>
        </p:txBody>
      </p:sp>
      <p:pic>
        <p:nvPicPr>
          <p:cNvPr id="38" name="Content Placeholder 37" descr="Screenshot 2025-06-19 01550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1330" y="1089930"/>
            <a:ext cx="4215836" cy="5354517"/>
          </a:xfrm>
        </p:spPr>
      </p:pic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A8CCA3-3DCF-E203-C497-CD7584D6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daffodil-international-university-logo-png_seeklogo-427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980" y="228600"/>
            <a:ext cx="1379220" cy="1379220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rot="16200000" flipH="1">
            <a:off x="9085943" y="4470399"/>
            <a:ext cx="246743" cy="435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107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6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771" y="14192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 err="1" smtClean="0"/>
              <a:t>Guntuboina</a:t>
            </a:r>
            <a:r>
              <a:rPr lang="en-US" sz="2000" dirty="0" smtClean="0"/>
              <a:t>, C. et al. (2023) </a:t>
            </a:r>
            <a:r>
              <a:rPr lang="en-US" sz="2000" dirty="0" err="1" smtClean="0"/>
              <a:t>PeptideBERT</a:t>
            </a:r>
            <a:r>
              <a:rPr lang="en-US" sz="2000" dirty="0" smtClean="0"/>
              <a:t>: A language model based on transformers for peptide property prediction. </a:t>
            </a:r>
            <a:r>
              <a:rPr lang="en-US" sz="2000" i="1" dirty="0" err="1" smtClean="0"/>
              <a:t>arXiv</a:t>
            </a:r>
            <a:r>
              <a:rPr lang="en-US" sz="2000" dirty="0" smtClean="0"/>
              <a:t>, 2309.03099.</a:t>
            </a:r>
          </a:p>
          <a:p>
            <a:r>
              <a:rPr lang="en-US" sz="2000" dirty="0" smtClean="0"/>
              <a:t>Ma, Z. et al. (2023) </a:t>
            </a:r>
            <a:r>
              <a:rPr lang="en-US" sz="2000" dirty="0" err="1" smtClean="0"/>
              <a:t>pLMFPPred</a:t>
            </a:r>
            <a:r>
              <a:rPr lang="en-US" sz="2000" dirty="0" smtClean="0"/>
              <a:t>: A novel approach for accurate prediction of functional peptides integrating embedding from pre-trained protein language model and imbalanced learning. </a:t>
            </a:r>
            <a:r>
              <a:rPr lang="en-US" sz="2000" i="1" dirty="0" smtClean="0"/>
              <a:t>J. Chem. Inf. Model.</a:t>
            </a:r>
            <a:r>
              <a:rPr lang="en-US" sz="2000" dirty="0" smtClean="0"/>
              <a:t>, 63(21), 7015–7026.</a:t>
            </a:r>
          </a:p>
          <a:p>
            <a:r>
              <a:rPr lang="en-US" sz="2000" dirty="0" err="1" smtClean="0"/>
              <a:t>Badrinarayanan</a:t>
            </a:r>
            <a:r>
              <a:rPr lang="en-US" sz="2000" dirty="0" smtClean="0"/>
              <a:t>, S. et al. (2024) Multi-Peptide: Multimodality leveraged language-graph learning of peptide properties. </a:t>
            </a:r>
            <a:r>
              <a:rPr lang="en-US" sz="2000" i="1" dirty="0" err="1" smtClean="0"/>
              <a:t>arXiv</a:t>
            </a:r>
            <a:r>
              <a:rPr lang="en-US" sz="2000" dirty="0" smtClean="0"/>
              <a:t>, 2407.03380.</a:t>
            </a:r>
          </a:p>
          <a:p>
            <a:r>
              <a:rPr lang="en-US" sz="2000" dirty="0" smtClean="0"/>
              <a:t>Zhang, Y. et al. (2024) </a:t>
            </a:r>
            <a:r>
              <a:rPr lang="en-US" sz="2000" dirty="0" err="1" smtClean="0"/>
              <a:t>ToxTeller</a:t>
            </a:r>
            <a:r>
              <a:rPr lang="en-US" sz="2000" dirty="0" smtClean="0"/>
              <a:t>: Predicting peptide toxicity using four different machine learning approaches. </a:t>
            </a:r>
            <a:r>
              <a:rPr lang="en-US" sz="2000" i="1" dirty="0" smtClean="0"/>
              <a:t>ACS Omega</a:t>
            </a:r>
            <a:r>
              <a:rPr lang="en-US" sz="2000" dirty="0" smtClean="0"/>
              <a:t>, 9(6), 10234–10243.</a:t>
            </a:r>
          </a:p>
          <a:p>
            <a:r>
              <a:rPr lang="en-US" sz="2000" dirty="0" smtClean="0"/>
              <a:t>Wei, L. et al. (2022) Improved prediction model of protein and peptide toxicity by integrating channel attention into a </a:t>
            </a:r>
            <a:r>
              <a:rPr lang="en-US" sz="2000" dirty="0" err="1" smtClean="0"/>
              <a:t>convolutional</a:t>
            </a:r>
            <a:r>
              <a:rPr lang="en-US" sz="2000" dirty="0" smtClean="0"/>
              <a:t> neural network and gated recurrent units. </a:t>
            </a:r>
            <a:r>
              <a:rPr lang="en-US" sz="2000" i="1" dirty="0" smtClean="0"/>
              <a:t>ACS Omega</a:t>
            </a:r>
            <a:r>
              <a:rPr lang="en-US" sz="2000" dirty="0" smtClean="0"/>
              <a:t>, 7(45), 41056–41066.</a:t>
            </a:r>
          </a:p>
          <a:p>
            <a:r>
              <a:rPr lang="en-US" sz="2000" dirty="0" err="1" smtClean="0"/>
              <a:t>Xue</a:t>
            </a:r>
            <a:r>
              <a:rPr lang="en-US" sz="2000" dirty="0" smtClean="0"/>
              <a:t>, Y. et al. (2022) </a:t>
            </a:r>
            <a:r>
              <a:rPr lang="en-US" sz="2000" dirty="0" err="1" smtClean="0"/>
              <a:t>ToxMVA</a:t>
            </a:r>
            <a:r>
              <a:rPr lang="en-US" sz="2000" dirty="0" smtClean="0"/>
              <a:t>: An end-to-end multi-view deep </a:t>
            </a:r>
            <a:r>
              <a:rPr lang="en-US" sz="2000" dirty="0" err="1" smtClean="0"/>
              <a:t>autoencoder</a:t>
            </a:r>
            <a:r>
              <a:rPr lang="en-US" sz="2000" dirty="0" smtClean="0"/>
              <a:t> method for protein toxicity prediction. </a:t>
            </a:r>
            <a:r>
              <a:rPr lang="en-US" sz="2000" i="1" dirty="0" err="1" smtClean="0"/>
              <a:t>Comput</a:t>
            </a:r>
            <a:r>
              <a:rPr lang="en-US" sz="2000" i="1" dirty="0" smtClean="0"/>
              <a:t>. Biol. Med.</a:t>
            </a:r>
            <a:r>
              <a:rPr lang="en-US" sz="2000" dirty="0" smtClean="0"/>
              <a:t>, 150, 106183.</a:t>
            </a:r>
          </a:p>
          <a:p>
            <a:r>
              <a:rPr lang="en-US" sz="2000" dirty="0" err="1" smtClean="0"/>
              <a:t>Beltrán</a:t>
            </a:r>
            <a:r>
              <a:rPr lang="en-US" sz="2000" dirty="0" smtClean="0"/>
              <a:t>, J.F. et al. (2024) </a:t>
            </a:r>
            <a:r>
              <a:rPr lang="en-US" sz="2000" dirty="0" err="1" smtClean="0"/>
              <a:t>MultiToxPred</a:t>
            </a:r>
            <a:r>
              <a:rPr lang="en-US" sz="2000" dirty="0" smtClean="0"/>
              <a:t> 1.0: A novel comprehensive tool for predicting 27 classes of protein toxins using an ensemble machine learning approach. </a:t>
            </a:r>
            <a:r>
              <a:rPr lang="en-US" sz="2000" i="1" dirty="0" smtClean="0"/>
              <a:t>BMC Bioinformatics</a:t>
            </a:r>
            <a:r>
              <a:rPr lang="en-US" sz="2000" dirty="0" smtClean="0"/>
              <a:t>, 25(1), 132.</a:t>
            </a:r>
          </a:p>
          <a:p>
            <a:r>
              <a:rPr lang="en-US" sz="2000" dirty="0" err="1" smtClean="0"/>
              <a:t>Szymczak</a:t>
            </a:r>
            <a:r>
              <a:rPr lang="en-US" sz="2000" dirty="0" smtClean="0"/>
              <a:t>, P. and </a:t>
            </a:r>
            <a:r>
              <a:rPr lang="en-US" sz="2000" dirty="0" err="1" smtClean="0"/>
              <a:t>Szczurek</a:t>
            </a:r>
            <a:r>
              <a:rPr lang="en-US" sz="2000" dirty="0" smtClean="0"/>
              <a:t>, E. (2023) Artificial intelligence-driven antimicrobial peptide discovery. </a:t>
            </a:r>
            <a:r>
              <a:rPr lang="en-US" sz="2000" i="1" dirty="0" err="1" smtClean="0"/>
              <a:t>arXiv</a:t>
            </a:r>
            <a:r>
              <a:rPr lang="en-US" sz="2000" dirty="0" smtClean="0"/>
              <a:t>, 2308.10921.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 descr="daffodil-international-university-logo-png_seeklogo-4277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952" y="214085"/>
            <a:ext cx="1379220" cy="1379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5E05734-4A2E-AA2E-537C-8BAB1D5EB0E0}"/>
              </a:ext>
            </a:extLst>
          </p:cNvPr>
          <p:cNvSpPr txBox="1"/>
          <p:nvPr/>
        </p:nvSpPr>
        <p:spPr>
          <a:xfrm>
            <a:off x="2980267" y="2567518"/>
            <a:ext cx="6231467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800" b="1" dirty="0">
                <a:latin typeface="+mj-lt"/>
              </a:rPr>
              <a:t>THANK YOU</a:t>
            </a:r>
            <a:endParaRPr lang="en-US" sz="4800" b="1" dirty="0">
              <a:latin typeface="+mj-lt"/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="" xmlns:a16="http://schemas.microsoft.com/office/drawing/2014/main" id="{B1353DBE-AB02-FA77-4DA1-1C88D6CCF2F3}"/>
              </a:ext>
            </a:extLst>
          </p:cNvPr>
          <p:cNvSpPr/>
          <p:nvPr/>
        </p:nvSpPr>
        <p:spPr>
          <a:xfrm>
            <a:off x="5810251" y="3429000"/>
            <a:ext cx="632883" cy="620184"/>
          </a:xfrm>
          <a:prstGeom prst="smileyFac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0BFA4B3-5425-EC70-2BC0-C40D3D91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 descr="daffodil-international-university-logo-png_seeklogo-4277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952" y="214085"/>
            <a:ext cx="1379220" cy="13792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>
            <a:extLst>
              <a:ext uri="{FF2B5EF4-FFF2-40B4-BE49-F238E27FC236}">
                <a16:creationId xmlns="" xmlns:a16="http://schemas.microsoft.com/office/drawing/2014/main" id="{44D4DBB6-F60E-6197-8564-69DD9E840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1" y="2457451"/>
            <a:ext cx="19431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TextBox 1">
            <a:extLst>
              <a:ext uri="{FF2B5EF4-FFF2-40B4-BE49-F238E27FC236}">
                <a16:creationId xmlns="" xmlns:a16="http://schemas.microsoft.com/office/drawing/2014/main" id="{ACB2DAF6-5045-E061-EE35-AA263CA2B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447" y="1595967"/>
            <a:ext cx="36231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en-GB" altLang="en-US" sz="4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???</a:t>
            </a:r>
            <a:endParaRPr lang="en-US" altLang="en-US" sz="2133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6DA1586-A400-5DD0-3367-6B3B363E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daffodil-international-university-logo-png_seeklogo-427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952" y="214085"/>
            <a:ext cx="1379220" cy="1379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34945</TotalTime>
  <Words>717</Words>
  <Application>Microsoft Office PowerPoint</Application>
  <PresentationFormat>Widescreen</PresentationFormat>
  <Paragraphs>127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DeepTox-Pep: Predicting Peptide Toxicity Using Ensemble Machine Learning and Deep Neural Networks</vt:lpstr>
      <vt:lpstr>PowerPoint Presentation</vt:lpstr>
      <vt:lpstr>PowerPoint Presentation</vt:lpstr>
      <vt:lpstr>PowerPoint Presentation</vt:lpstr>
      <vt:lpstr>Objectives</vt:lpstr>
      <vt:lpstr>Research Scope</vt:lpstr>
      <vt:lpstr>Literature Review</vt:lpstr>
      <vt:lpstr>PowerPoint Presentation</vt:lpstr>
      <vt:lpstr>Methodology</vt:lpstr>
      <vt:lpstr>References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VARIANTS OF BARNACLE MATING OPTIMIZER FOR TIME-SERIES PREDICTION OF PANDEMIC OUTBREAKS</dc:title>
  <dc:creator>Marzia Ahmed</dc:creator>
  <cp:lastModifiedBy>CHOWA</cp:lastModifiedBy>
  <cp:revision>229</cp:revision>
  <dcterms:created xsi:type="dcterms:W3CDTF">2023-10-03T04:05:12Z</dcterms:created>
  <dcterms:modified xsi:type="dcterms:W3CDTF">2025-08-22T00:38:35Z</dcterms:modified>
</cp:coreProperties>
</file>